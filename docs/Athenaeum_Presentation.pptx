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e4b605cb-6814-b825-12da-dbde5ea2a13e}">
          <p14:sldIdLst>
            <p14:sldId id="256"/>
            <p14:sldId id="257"/>
          </p14:sldIdLst>
        </p14:section>
        <p14:section name="Data and method" id="{fee18f0d-5a88-ec32-3253-73e2a91f722d}">
          <p14:sldIdLst>
            <p14:sldId id="258"/>
            <p14:sldId id="259"/>
            <p14:sldId id="260"/>
          </p14:sldIdLst>
        </p14:section>
        <p14:section name="Results" id="{4f36a640-47b9-6b7a-86ec-6961b875cea3}">
          <p14:sldIdLst>
            <p14:sldId id="261"/>
            <p14:sldId id="262"/>
            <p14:sldId id="263"/>
          </p14:sldIdLst>
        </p14:section>
        <p14:section name="Conclusion" id="{a117a163-5d13-778e-023e-291b9568a74f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17201D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17201D"/>
                </a:solidFill>
                <a:latin typeface="+mn-lt"/>
              </a:rPr>
              <a:t>Footfall regression: R² on last 14 days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R²</c:v>
                </c:pt>
              </c:strCache>
            </c:strRef>
          </c:tx>
          <c:spPr>
            <a:solidFill>
              <a:srgbClr val="D5DC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720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5DC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23B3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852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Linear</c:v>
                  </c:pt>
                  <c:pt idx="1">
                    <c:v>Polynomial</c:v>
                  </c:pt>
                  <c:pt idx="2">
                    <c:v>Multiple Linear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-0.15</c:v>
                </c:pt>
                <c:pt idx="1">
                  <c:v>0.38</c:v>
                </c:pt>
                <c:pt idx="2">
                  <c:v>0.69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720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625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-0.2"/>
        </c:scaling>
        <c:delete val="0"/>
        <c:axPos val="l"/>
        <c:majorGridlines>
          <c:spPr>
            <a:ln w="6350" cap="flat">
              <a:solidFill>
                <a:srgbClr val="D5DCD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5625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17201D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17201D"/>
                </a:solidFill>
                <a:latin typeface="+mn-lt"/>
              </a:rPr>
              <a:t>Late-return classifiers (test set)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rgbClr val="123B33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720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Logistic Regression</c:v>
                  </c:pt>
                  <c:pt idx="1">
                    <c:v>KNN</c:v>
                  </c:pt>
                  <c:pt idx="2">
                    <c:v>Decision Tree</c:v>
                  </c:pt>
                  <c:pt idx="3">
                    <c:v>Random Forest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0.54</c:v>
                </c:pt>
                <c:pt idx="1">
                  <c:v>0.35</c:v>
                </c:pt>
                <c:pt idx="2">
                  <c:v>0.5</c:v>
                </c:pt>
                <c:pt idx="3">
                  <c:v>0.48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B9852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720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Logistic Regression</c:v>
                  </c:pt>
                  <c:pt idx="1">
                    <c:v>KNN</c:v>
                  </c:pt>
                  <c:pt idx="2">
                    <c:v>Decision Tree</c:v>
                  </c:pt>
                  <c:pt idx="3">
                    <c:v>Random Forest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0.68</c:v>
                </c:pt>
                <c:pt idx="1">
                  <c:v>0.64</c:v>
                </c:pt>
                <c:pt idx="2">
                  <c:v>0.66</c:v>
                </c:pt>
                <c:pt idx="3">
                  <c:v>0.67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720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625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D5DCD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5625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17201D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17201D"/>
                </a:solidFill>
                <a:latin typeface="+mn-lt"/>
              </a:rPr>
              <a:t>NDCG@10 on held-out loans (259 members)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rgbClr val="B9852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720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9852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23B3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23B3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23B3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23B3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23B3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23B33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Gate-context (ours)</c:v>
                  </c:pt>
                  <c:pt idx="1">
                    <c:v>Hybrid</c:v>
                  </c:pt>
                  <c:pt idx="2">
                    <c:v>Content</c:v>
                  </c:pt>
                  <c:pt idx="3">
                    <c:v>User CF</c:v>
                  </c:pt>
                  <c:pt idx="4">
                    <c:v>Item CF</c:v>
                  </c:pt>
                  <c:pt idx="5">
                    <c:v>Matrix fact.</c:v>
                  </c:pt>
                  <c:pt idx="6">
                    <c:v>Popularity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0.07</c:v>
                </c:pt>
                <c:pt idx="1">
                  <c:v>0.06</c:v>
                </c:pt>
                <c:pt idx="2">
                  <c:v>0.054</c:v>
                </c:pt>
                <c:pt idx="3">
                  <c:v>0.045</c:v>
                </c:pt>
                <c:pt idx="4">
                  <c:v>0.028</c:v>
                </c:pt>
                <c:pt idx="5">
                  <c:v>0.013</c:v>
                </c:pt>
                <c:pt idx="6">
                  <c:v>0.034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720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625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8"/>
        </c:scaling>
        <c:delete val="0"/>
        <c:axPos val="b"/>
        <c:majorGridlines>
          <c:spPr>
            <a:ln w="6350" cap="flat">
              <a:solidFill>
                <a:srgbClr val="D5DCD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5625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project: a smart library system with a live gate, analytics and a book recommender.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problems. The project tackles all four in one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catalogue is real and scraped. Member activity is simulated because real student data cannot be shared; the code runs unchanged on real logs.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novel part: how long someone stays in the library predicts how long a book they pick. We use the gate log to re-weight the hybrid recommender.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20440"/>
            <a:ext cx="100584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D9E6DF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25D"/>
                </a:solidFill>
              </a:rPr>
              <a:t>Athenaeum  |  Data Science Ecosystem (23CS2024)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562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562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Athenaeum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204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9E6DF"/>
                </a:solidFill>
              </a:rPr>
              <a:t>Smart library gate analytics and gate-context-aware book recommendation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3949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E6DF"/>
                </a:solidFill>
              </a:rPr>
              <a:t>Sandeep M K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D9E6DF"/>
                </a:solidFill>
              </a:rPr>
              <a:t>Data Science Ecosystem (23CS2024)  ·  Project-Based Evaluation  ·  Oct 2026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118872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B9852F"/>
          </a:solidFill>
          <a:ln w="12700">
            <a:solidFill>
              <a:srgbClr val="B9852F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Problem statement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55625D"/>
                </a:solidFill>
              </a:rPr>
              <a:t>College libraries record who comes in and what they borrow, but nobody analyses it.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5440680" cy="1828800"/>
          </a:xfrm>
          <a:prstGeom prst="roundRect">
            <a:avLst>
              <a:gd name="adj" fmla="val 6000"/>
            </a:avLst>
          </a:prstGeom>
          <a:solidFill>
            <a:srgbClr val="EEF1EC"/>
          </a:solidFill>
          <a:ln w="12700">
            <a:solidFill>
              <a:srgbClr val="EEF1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468880"/>
            <a:ext cx="566928" cy="566928"/>
          </a:xfrm>
          <a:prstGeom prst="ellipse">
            <a:avLst/>
          </a:prstGeom>
          <a:solidFill>
            <a:srgbClr val="123B33"/>
          </a:solidFill>
          <a:ln w="12700">
            <a:solidFill>
              <a:srgbClr val="123B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468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4231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01D"/>
                </a:solidFill>
              </a:rPr>
              <a:t>Paper registers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92608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5625D"/>
                </a:solidFill>
              </a:rPr>
              <a:t>Entry logs capture names, not patterns. Staff only learn the room is full when it is full.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172200" y="2148840"/>
            <a:ext cx="5440680" cy="1828800"/>
          </a:xfrm>
          <a:prstGeom prst="roundRect">
            <a:avLst>
              <a:gd name="adj" fmla="val 6000"/>
            </a:avLst>
          </a:prstGeom>
          <a:solidFill>
            <a:srgbClr val="EEF1EC"/>
          </a:solidFill>
          <a:ln w="12700">
            <a:solidFill>
              <a:srgbClr val="EEF1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46520" y="2468880"/>
            <a:ext cx="566928" cy="566928"/>
          </a:xfrm>
          <a:prstGeom prst="ellipse">
            <a:avLst/>
          </a:prstGeom>
          <a:solidFill>
            <a:srgbClr val="123B33"/>
          </a:solidFill>
          <a:ln w="12700">
            <a:solidFill>
              <a:srgbClr val="123B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2468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24231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01D"/>
                </a:solidFill>
              </a:rPr>
              <a:t>Books go undiscovered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292608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5625D"/>
                </a:solidFill>
              </a:rPr>
              <a:t>Students find books by browsing or word of mouth; most of the catalogue is never borrowed.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4206240"/>
            <a:ext cx="5440680" cy="1828800"/>
          </a:xfrm>
          <a:prstGeom prst="roundRect">
            <a:avLst>
              <a:gd name="adj" fmla="val 6000"/>
            </a:avLst>
          </a:prstGeom>
          <a:solidFill>
            <a:srgbClr val="EEF1EC"/>
          </a:solidFill>
          <a:ln w="12700">
            <a:solidFill>
              <a:srgbClr val="EEF1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526280"/>
            <a:ext cx="566928" cy="566928"/>
          </a:xfrm>
          <a:prstGeom prst="ellipse">
            <a:avLst/>
          </a:prstGeom>
          <a:solidFill>
            <a:srgbClr val="123B33"/>
          </a:solidFill>
          <a:ln w="12700">
            <a:solidFill>
              <a:srgbClr val="123B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805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01D"/>
                </a:solidFill>
              </a:rPr>
              <a:t>Late returns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98348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5625D"/>
                </a:solidFill>
              </a:rPr>
              <a:t>Overdue books are noticed after the due date instead of being anticipated at issue.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172200" y="4206240"/>
            <a:ext cx="5440680" cy="1828800"/>
          </a:xfrm>
          <a:prstGeom prst="roundRect">
            <a:avLst>
              <a:gd name="adj" fmla="val 6000"/>
            </a:avLst>
          </a:prstGeom>
          <a:solidFill>
            <a:srgbClr val="EEF1EC"/>
          </a:solidFill>
          <a:ln w="12700">
            <a:solidFill>
              <a:srgbClr val="EEF1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46520" y="4526280"/>
            <a:ext cx="566928" cy="566928"/>
          </a:xfrm>
          <a:prstGeom prst="ellipse">
            <a:avLst/>
          </a:prstGeom>
          <a:solidFill>
            <a:srgbClr val="B9852F"/>
          </a:solidFill>
          <a:ln w="12700">
            <a:solidFill>
              <a:srgbClr val="B9852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46520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223760" y="44805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01D"/>
                </a:solidFill>
              </a:rPr>
              <a:t>Opaque, unfair tools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498348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5625D"/>
                </a:solidFill>
              </a:rPr>
              <a:t>Existing recommenders ignore how people use the building and rarely explain or audit their choices.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562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Web-scraped dataset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2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1,980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756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625D"/>
                </a:solidFill>
              </a:rPr>
              <a:t>records scraped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060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510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6440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625D"/>
                </a:solidFill>
              </a:rPr>
              <a:t>books kept after cleaning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947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2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45312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625D"/>
                </a:solidFill>
              </a:rPr>
              <a:t>genres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98348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2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30,132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6418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625D"/>
                </a:solidFill>
              </a:rPr>
              <a:t>gate visits logged</a:t>
            </a:r>
            <a:endParaRPr lang="en-US" sz="1500" dirty="0"/>
          </a:p>
        </p:txBody>
      </p:sp>
      <p:pic>
        <p:nvPicPr>
          <p:cNvPr id="11" name="Image 0" descr="D:\library_managment system\docs\figures\scrape_genr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1325880"/>
            <a:ext cx="4754880" cy="29718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114800" y="4480560"/>
            <a:ext cx="7498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7201D"/>
                </a:solidFill>
              </a:rPr>
              <a:t>Source: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7201D"/>
                </a:solidFill>
              </a:rPr>
              <a:t>Open Library search + work APIs (titles, authors, pages, ratings, want-to-read counts, descriptions)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7201D"/>
                </a:solidFill>
              </a:rPr>
              <a:t>Cleaning: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7201D"/>
                </a:solidFill>
              </a:rPr>
              <a:t>de-duplication, English only, fiction/non-fiction checks, empty descriptions dropped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7201D"/>
                </a:solidFill>
              </a:rPr>
              <a:t>Activity: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7201D"/>
                </a:solidFill>
              </a:rPr>
              <a:t>600 members, 3,105 loans, 2,392 ratings from the gate and issue desk (simulated from stated behaviour)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9098280" y="1325880"/>
            <a:ext cx="2560320" cy="2971800"/>
          </a:xfrm>
          <a:prstGeom prst="roundRect">
            <a:avLst>
              <a:gd name="adj" fmla="val 4286"/>
            </a:avLst>
          </a:prstGeom>
          <a:solidFill>
            <a:srgbClr val="EEF1EC"/>
          </a:solidFill>
          <a:ln w="12700">
            <a:solidFill>
              <a:srgbClr val="EEF1E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281160" y="1508760"/>
            <a:ext cx="2240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201D"/>
                </a:solidFill>
              </a:rPr>
              <a:t>Polite scraper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7201D"/>
                </a:solidFill>
              </a:rPr>
              <a:t>User-Agent header, rate limits, retries with back-off and a raw JSON snapshot for reproducibility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562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System architecture</a:t>
            </a:r>
            <a:endParaRPr lang="en-US" sz="3400" dirty="0"/>
          </a:p>
        </p:txBody>
      </p:sp>
      <p:pic>
        <p:nvPicPr>
          <p:cNvPr id="3" name="Image 0" descr="D:\library_managment system\docs\figures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325880"/>
            <a:ext cx="10515600" cy="401421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55321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625D"/>
                </a:solidFill>
              </a:rPr>
              <a:t>Scraper and gate feed SQLite; a Python engine computes statistics, models and recommendations; Flask serves a browser app drawn with Chart.js and d3.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562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Proposed method: gate-context-aware hybrid</a:t>
            </a:r>
            <a:endParaRPr lang="en-US" sz="3400" dirty="0"/>
          </a:p>
        </p:txBody>
      </p:sp>
      <p:pic>
        <p:nvPicPr>
          <p:cNvPr id="3" name="Image 0" descr="D:\library_managment system\docs\figures\context_f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852160" cy="390448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675120" y="1325880"/>
            <a:ext cx="4983480" cy="4754880"/>
          </a:xfrm>
          <a:prstGeom prst="roundRect">
            <a:avLst>
              <a:gd name="adj" fmla="val 2308"/>
            </a:avLst>
          </a:prstGeom>
          <a:solidFill>
            <a:srgbClr val="EEF1EC"/>
          </a:solidFill>
          <a:ln w="12700">
            <a:solidFill>
              <a:srgbClr val="EEF1E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903720" y="1554480"/>
            <a:ext cx="45720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23B33"/>
                </a:solidFill>
              </a:rPr>
              <a:t>1  Hybrid score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01D"/>
                </a:solidFill>
              </a:rPr>
              <a:t>Content (TF-IDF) + user CF + item CF + matrix factorisation + popularity, weights tuned on hold-out NDCG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01D"/>
                </a:solidFill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23B33"/>
                </a:solidFill>
              </a:rPr>
              <a:t>2  Learn context from the gate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01D"/>
                </a:solidFill>
              </a:rPr>
              <a:t>log(pages) = a·log(stay) + b,  a = 0.47, r = 0.63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01D"/>
                </a:solidFill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23B33"/>
                </a:solidFill>
              </a:rPr>
              <a:t>3  Re-weight and diversify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01D"/>
                </a:solidFill>
              </a:rPr>
              <a:t>Score = Hybrid × (0.7 + 0.3 · length fit), then MMR re-ranking for variety. Works even for members who have only visited.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562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Forecasting footfall and predicting late returns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51206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035040" y="1325880"/>
          <a:ext cx="55778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440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625D"/>
                </a:solidFill>
              </a:rPr>
              <a:t>Multiple regression explains 69% of hourly variation and drives the occupancy forecast. Logistic regression balances recall and F1 best and explains each risk score.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562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Recommender evaluation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74980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8321040" y="1325880"/>
            <a:ext cx="3291840" cy="4754880"/>
          </a:xfrm>
          <a:prstGeom prst="roundRect">
            <a:avLst>
              <a:gd name="adj" fmla="val 3333"/>
            </a:avLst>
          </a:prstGeom>
          <a:solidFill>
            <a:srgbClr val="123B33"/>
          </a:solidFill>
          <a:ln w="12700">
            <a:solidFill>
              <a:srgbClr val="123B3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549640" y="16002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+17%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697480"/>
            <a:ext cx="2880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9E6DF"/>
                </a:solidFill>
              </a:rPr>
              <a:t>NDCG over the plain hybrid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9E6DF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D9E6DF"/>
                </a:solidFill>
              </a:rPr>
              <a:t>Protocol: </a:t>
            </a:r>
            <a:pPr indent="0" marL="0">
              <a:buNone/>
            </a:pPr>
            <a:r>
              <a:rPr lang="en-US" sz="1400" dirty="0">
                <a:solidFill>
                  <a:srgbClr val="D9E6DF"/>
                </a:solidFill>
              </a:rPr>
              <a:t>20% of each member’s books hidden, models retrained, top-10 lists checked. Context weight chosen on a separate validation split.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562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Occupancy forecast with crowding alerts</a:t>
            </a:r>
            <a:endParaRPr lang="en-US" sz="3400" dirty="0"/>
          </a:p>
        </p:txBody>
      </p:sp>
      <p:pic>
        <p:nvPicPr>
          <p:cNvPr id="3" name="Image 0" descr="D:\library_managment system\docs\figures\deck_occupanc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325880"/>
            <a:ext cx="10058400" cy="341985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937760"/>
            <a:ext cx="11064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B33"/>
                </a:solidFill>
              </a:rPr>
              <a:t>Occupancy(h) = Inside · S(h) + Σ Arrivals_j · S(h − j)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7201D"/>
                </a:solidFill>
              </a:rPr>
              <a:t>Arrivals come from the multiple-regression forecast; S(t) is the measured share of visitors still inside after t hours. </a:t>
            </a:r>
            <a:pPr indent="0" marL="0">
              <a:buNone/>
            </a:pPr>
            <a:r>
              <a:rPr lang="en-US" sz="1500" dirty="0">
                <a:solidFill>
                  <a:srgbClr val="17201D"/>
                </a:solidFill>
              </a:rPr>
              <a:t>Peak today: about 54 readers for 60 seats, so staff are told to open the overflow hall before it fills.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562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Conclusion and future work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486400" cy="4343400"/>
          </a:xfrm>
          <a:prstGeom prst="roundRect">
            <a:avLst>
              <a:gd name="adj" fmla="val 2526"/>
            </a:avLst>
          </a:prstGeom>
          <a:solidFill>
            <a:srgbClr val="EEF1EC"/>
          </a:solidFill>
          <a:ln w="12700">
            <a:solidFill>
              <a:srgbClr val="EEF1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50292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23B33"/>
                </a:solidFill>
              </a:rPr>
              <a:t>What we showed</a:t>
            </a:r>
            <a:endParaRPr lang="en-US" sz="19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900" dirty="0">
                <a:solidFill>
                  <a:srgbClr val="17201D"/>
                </a:solidFill>
              </a:rPr>
              <a:t> 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7201D"/>
                </a:solidFill>
              </a:rPr>
              <a:t>Real scraped catalogue + live gate data in one pipeline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7201D"/>
                </a:solidFill>
              </a:rPr>
              <a:t>Gate context improves recommendations by 17% NDCG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7201D"/>
                </a:solidFill>
              </a:rPr>
              <a:t>Footfall regression becomes advance crowding alerts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7201D"/>
                </a:solidFill>
              </a:rPr>
              <a:t>Every result is explained, anonymised and fairness-checked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172200" y="1371600"/>
            <a:ext cx="5486400" cy="4343400"/>
          </a:xfrm>
          <a:prstGeom prst="roundRect">
            <a:avLst>
              <a:gd name="adj" fmla="val 2526"/>
            </a:avLst>
          </a:prstGeom>
          <a:solidFill>
            <a:srgbClr val="123B33"/>
          </a:solidFill>
          <a:ln w="12700">
            <a:solidFill>
              <a:srgbClr val="123B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46520" y="1600200"/>
            <a:ext cx="50292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FFFFF"/>
                </a:solidFill>
              </a:rPr>
              <a:t>Next steps</a:t>
            </a:r>
            <a:endParaRPr lang="en-US" sz="19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900" dirty="0">
                <a:solidFill>
                  <a:srgbClr val="D9E6DF"/>
                </a:solidFill>
              </a:rPr>
              <a:t> 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D9E6DF"/>
                </a:solidFill>
              </a:rPr>
              <a:t>Validate the context method on real library records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D9E6DF"/>
                </a:solidFill>
              </a:rPr>
              <a:t>Connect an RFID or barcode reader to the gate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D9E6DF"/>
                </a:solidFill>
              </a:rPr>
              <a:t>Add time-of-day context and per-member weights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D9E6DF"/>
                </a:solidFill>
              </a:rPr>
              <a:t>E-mail crowding alerts and due-date reminders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B33"/>
                </a:solidFill>
              </a:rPr>
              <a:t>Thank you  ·  questions welcome</a:t>
            </a:r>
            <a:pPr indent="0" marL="0">
              <a:buNone/>
            </a:pPr>
            <a:r>
              <a:rPr lang="en-US" sz="1400" dirty="0">
                <a:solidFill>
                  <a:srgbClr val="55625D"/>
                </a:solidFill>
              </a:rPr>
              <a:t>     github.com/sandeepmk2006/Libray-managment-with-book-recommendation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562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thenaeum">
  <a:themeElements>
    <a:clrScheme name="Athenaeum">
      <a:dk1>
        <a:srgbClr val="17201D"/>
      </a:dk1>
      <a:lt1>
        <a:srgbClr val="FFFFFF"/>
      </a:lt1>
      <a:dk2>
        <a:srgbClr val="123B33"/>
      </a:dk2>
      <a:lt2>
        <a:srgbClr val="EEF1EC"/>
      </a:lt2>
      <a:accent1>
        <a:srgbClr val="123B33"/>
      </a:accent1>
      <a:accent2>
        <a:srgbClr val="B9852F"/>
      </a:accent2>
      <a:accent3>
        <a:srgbClr val="2D5D8A"/>
      </a:accent3>
      <a:accent4>
        <a:srgbClr val="B4442C"/>
      </a:accent4>
      <a:accent5>
        <a:srgbClr val="5B7A2E"/>
      </a:accent5>
      <a:accent6>
        <a:srgbClr val="7A3E65"/>
      </a:accent6>
      <a:hlink>
        <a:srgbClr val="2D5D8A"/>
      </a:hlink>
      <a:folHlink>
        <a:srgbClr val="7A3E65"/>
      </a:folHlink>
    </a:clrScheme>
    <a:fontScheme name="Athenaeum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Athenaeum: Smart Library Analytics and Book Recommendation</dc:title>
  <dc:subject>PptxGenJS Presentation</dc:subject>
  <dc:creator>Sandeep M K</dc:creator>
  <cp:lastModifiedBy>Sandeep M K</cp:lastModifiedBy>
  <cp:revision>1</cp:revision>
  <dcterms:created xsi:type="dcterms:W3CDTF">2026-10-27T05:29:04Z</dcterms:created>
  <dcterms:modified xsi:type="dcterms:W3CDTF">2026-10-27T05:29:04Z</dcterms:modified>
</cp:coreProperties>
</file>